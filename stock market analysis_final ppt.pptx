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22"/>
  </p:notesMasterIdLst>
  <p:handoutMasterIdLst>
    <p:handoutMasterId r:id="rId23"/>
  </p:handoutMasterIdLst>
  <p:sldIdLst>
    <p:sldId id="365" r:id="rId5"/>
    <p:sldId id="366" r:id="rId6"/>
    <p:sldId id="326" r:id="rId7"/>
    <p:sldId id="328" r:id="rId8"/>
    <p:sldId id="332" r:id="rId9"/>
    <p:sldId id="335" r:id="rId10"/>
    <p:sldId id="336" r:id="rId11"/>
    <p:sldId id="340" r:id="rId12"/>
    <p:sldId id="343" r:id="rId13"/>
    <p:sldId id="344" r:id="rId14"/>
    <p:sldId id="345" r:id="rId15"/>
    <p:sldId id="346" r:id="rId16"/>
    <p:sldId id="347" r:id="rId17"/>
    <p:sldId id="353" r:id="rId18"/>
    <p:sldId id="354" r:id="rId19"/>
    <p:sldId id="367" r:id="rId20"/>
    <p:sldId id="3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5660" autoAdjust="0"/>
  </p:normalViewPr>
  <p:slideViewPr>
    <p:cSldViewPr snapToGrid="0">
      <p:cViewPr varScale="1">
        <p:scale>
          <a:sx n="74" d="100"/>
          <a:sy n="74" d="100"/>
        </p:scale>
        <p:origin x="792" y="72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1/16/2025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592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646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8861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>
                <a:cs typeface="Calibri"/>
              </a:rPr>
              <a:t>Click to add subtitle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3872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1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39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54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507" y="395289"/>
            <a:ext cx="7733329" cy="1189806"/>
          </a:xfrm>
        </p:spPr>
        <p:txBody>
          <a:bodyPr lIns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90507" y="1997132"/>
            <a:ext cx="2765356" cy="4465579"/>
          </a:xfrm>
        </p:spPr>
        <p:txBody>
          <a:bodyPr l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C1FBAB-005F-F0AD-1BEA-D659045F89F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15634" y="1997132"/>
            <a:ext cx="4808202" cy="4232218"/>
          </a:xfrm>
        </p:spPr>
        <p:txBody>
          <a:bodyPr lIns="9144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CF0BDF-4C70-3A21-D896-DAC13562A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90509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35428F-DCEA-E8DB-1A53-7A9E8B6B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883418" y="-158956"/>
            <a:ext cx="2457450" cy="3838575"/>
            <a:chOff x="587376" y="280988"/>
            <a:chExt cx="2457450" cy="3838575"/>
          </a:xfrm>
        </p:grpSpPr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08950FF-1512-B7DF-BED3-12DAB240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81">
              <a:extLst>
                <a:ext uri="{FF2B5EF4-FFF2-40B4-BE49-F238E27FC236}">
                  <a16:creationId xmlns:a16="http://schemas.microsoft.com/office/drawing/2014/main" id="{FED46019-50FE-56DC-07AE-3140B62D9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8344F6F-7BFF-A0C1-6A5C-7C26859CE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351AD35-F328-430C-AC8C-9C2FCC751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84">
              <a:extLst>
                <a:ext uri="{FF2B5EF4-FFF2-40B4-BE49-F238E27FC236}">
                  <a16:creationId xmlns:a16="http://schemas.microsoft.com/office/drawing/2014/main" id="{26C9E2DF-5528-DC17-0E3E-5CAB02313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C6D0E3D9-FDBB-F24B-58B3-5D64BA3AD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7CEB91EF-B50A-86E9-6E90-5306CC452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59">
              <a:extLst>
                <a:ext uri="{FF2B5EF4-FFF2-40B4-BE49-F238E27FC236}">
                  <a16:creationId xmlns:a16="http://schemas.microsoft.com/office/drawing/2014/main" id="{9F658E30-2295-292A-732D-35D6A2A3A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62">
              <a:extLst>
                <a:ext uri="{FF2B5EF4-FFF2-40B4-BE49-F238E27FC236}">
                  <a16:creationId xmlns:a16="http://schemas.microsoft.com/office/drawing/2014/main" id="{46653527-5E94-B1BE-2530-38683A6E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746ECD9D-C4C1-ABBF-B385-62CE70917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F12FD0B4-D775-8778-B4AB-281288125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82">
              <a:extLst>
                <a:ext uri="{FF2B5EF4-FFF2-40B4-BE49-F238E27FC236}">
                  <a16:creationId xmlns:a16="http://schemas.microsoft.com/office/drawing/2014/main" id="{9060E759-708B-81DA-7D61-A5E4FD15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C1BC18FF-D435-8372-8D36-F0A2E2FF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BE903D-C298-1952-7991-8E31C2AF2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607DCA6-6024-D362-9330-8AFFBBB8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91" name="Line 63">
                <a:extLst>
                  <a:ext uri="{FF2B5EF4-FFF2-40B4-BE49-F238E27FC236}">
                    <a16:creationId xmlns:a16="http://schemas.microsoft.com/office/drawing/2014/main" id="{3B80B578-9153-AA37-CCF4-1C530CE74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Line 66">
                <a:extLst>
                  <a:ext uri="{FF2B5EF4-FFF2-40B4-BE49-F238E27FC236}">
                    <a16:creationId xmlns:a16="http://schemas.microsoft.com/office/drawing/2014/main" id="{70FF2BF6-5E2B-13B9-B292-51297D0F0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Line 67">
                <a:extLst>
                  <a:ext uri="{FF2B5EF4-FFF2-40B4-BE49-F238E27FC236}">
                    <a16:creationId xmlns:a16="http://schemas.microsoft.com/office/drawing/2014/main" id="{10EEC0DE-2FA0-2991-F09B-FDB7F90BCF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4" name="Line 80">
                <a:extLst>
                  <a:ext uri="{FF2B5EF4-FFF2-40B4-BE49-F238E27FC236}">
                    <a16:creationId xmlns:a16="http://schemas.microsoft.com/office/drawing/2014/main" id="{FD5727E7-2D7B-1745-2AFE-EE92B123D0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7E599577-4F0E-E46B-8F38-5DE84B9E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6" name="Line 86">
                <a:extLst>
                  <a:ext uri="{FF2B5EF4-FFF2-40B4-BE49-F238E27FC236}">
                    <a16:creationId xmlns:a16="http://schemas.microsoft.com/office/drawing/2014/main" id="{EBC3501F-ACA9-9716-54B2-308F761A3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8F837063-D92B-EA3A-1299-475B6632C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A340BC-A6D3-539D-CB1E-965CF9C5D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V="1">
            <a:off x="917093" y="3213810"/>
            <a:ext cx="2457450" cy="3838575"/>
            <a:chOff x="587376" y="280988"/>
            <a:chExt cx="2457450" cy="3838575"/>
          </a:xfrm>
        </p:grpSpPr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7AC7CD44-8A4B-F8A7-C900-0DD35E0E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81">
              <a:extLst>
                <a:ext uri="{FF2B5EF4-FFF2-40B4-BE49-F238E27FC236}">
                  <a16:creationId xmlns:a16="http://schemas.microsoft.com/office/drawing/2014/main" id="{11D7F6C7-DB52-EF70-52AC-898829F0A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1" name="Freeform 61">
              <a:extLst>
                <a:ext uri="{FF2B5EF4-FFF2-40B4-BE49-F238E27FC236}">
                  <a16:creationId xmlns:a16="http://schemas.microsoft.com/office/drawing/2014/main" id="{198FB818-8D72-83A8-92A1-DBF959851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3D0C3C81-7CE0-2D78-D02F-F9DCF0501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84">
              <a:extLst>
                <a:ext uri="{FF2B5EF4-FFF2-40B4-BE49-F238E27FC236}">
                  <a16:creationId xmlns:a16="http://schemas.microsoft.com/office/drawing/2014/main" id="{0C7ED120-F30B-14AB-5B2F-B022C8668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87">
              <a:extLst>
                <a:ext uri="{FF2B5EF4-FFF2-40B4-BE49-F238E27FC236}">
                  <a16:creationId xmlns:a16="http://schemas.microsoft.com/office/drawing/2014/main" id="{60788874-2352-19A7-D664-0106854D9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88B03378-17C4-9F0A-14DE-B0D14C3A5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59">
              <a:extLst>
                <a:ext uri="{FF2B5EF4-FFF2-40B4-BE49-F238E27FC236}">
                  <a16:creationId xmlns:a16="http://schemas.microsoft.com/office/drawing/2014/main" id="{AF0D137B-1827-9F4C-03BB-6D7F26FF5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Freeform 62">
              <a:extLst>
                <a:ext uri="{FF2B5EF4-FFF2-40B4-BE49-F238E27FC236}">
                  <a16:creationId xmlns:a16="http://schemas.microsoft.com/office/drawing/2014/main" id="{F0D58801-920F-64E9-DD6A-9E41DB9CE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1196BF7F-0B7D-24CC-1BF8-28DE94B28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0055D8F4-D194-4E40-FA91-94F7A1AEC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BF5427B-8B0F-8276-A243-4B27DA41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200EE055-2A12-AA92-46E4-2FA8D7BA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2" name="Freeform 88">
              <a:extLst>
                <a:ext uri="{FF2B5EF4-FFF2-40B4-BE49-F238E27FC236}">
                  <a16:creationId xmlns:a16="http://schemas.microsoft.com/office/drawing/2014/main" id="{3C38B1EC-E4D2-BF06-976B-C14979A1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BCF6A29-31B0-2441-356B-86247D86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114" name="Line 63">
                <a:extLst>
                  <a:ext uri="{FF2B5EF4-FFF2-40B4-BE49-F238E27FC236}">
                    <a16:creationId xmlns:a16="http://schemas.microsoft.com/office/drawing/2014/main" id="{6EB6905C-ACF6-9AF1-664F-5C0FED8A6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5" name="Line 66">
                <a:extLst>
                  <a:ext uri="{FF2B5EF4-FFF2-40B4-BE49-F238E27FC236}">
                    <a16:creationId xmlns:a16="http://schemas.microsoft.com/office/drawing/2014/main" id="{0E262CE0-BAF1-8146-35BB-AC059F729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6" name="Line 67">
                <a:extLst>
                  <a:ext uri="{FF2B5EF4-FFF2-40B4-BE49-F238E27FC236}">
                    <a16:creationId xmlns:a16="http://schemas.microsoft.com/office/drawing/2014/main" id="{191EBC3F-760E-86C1-8B21-A117912C6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7" name="Line 80">
                <a:extLst>
                  <a:ext uri="{FF2B5EF4-FFF2-40B4-BE49-F238E27FC236}">
                    <a16:creationId xmlns:a16="http://schemas.microsoft.com/office/drawing/2014/main" id="{53EAD6B4-1599-2782-D593-2D6148973A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8" name="Line 83">
                <a:extLst>
                  <a:ext uri="{FF2B5EF4-FFF2-40B4-BE49-F238E27FC236}">
                    <a16:creationId xmlns:a16="http://schemas.microsoft.com/office/drawing/2014/main" id="{809484DC-53A9-6DF0-B3E7-61C4BBC6D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9" name="Line 86">
                <a:extLst>
                  <a:ext uri="{FF2B5EF4-FFF2-40B4-BE49-F238E27FC236}">
                    <a16:creationId xmlns:a16="http://schemas.microsoft.com/office/drawing/2014/main" id="{631B2D90-841F-130E-48D8-D77FD39A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54CE9CB3-DC61-CF9B-41AF-A855A9A7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2F52A-503B-3D02-DD9B-CD13E11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EA1EAF5E-FFB3-BD50-2D80-15B1A519F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D9679-CDB7-1A17-8236-8B08D90E8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4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4C136262-2D92-08CC-8364-8E00D9FE6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685" y="400049"/>
            <a:ext cx="731015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810" y="430212"/>
            <a:ext cx="2989063" cy="599757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F82769-951B-3DA0-5C05-D7354E00A37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13685" y="1997132"/>
            <a:ext cx="7314440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138E9-0025-C4F7-43CB-C242E93B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368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412D6E-AE2E-B8C7-3247-1E771842C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368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A960C8-4CEC-FD5C-58B1-0A33E8015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1392" y="6356350"/>
            <a:ext cx="3614737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500073-CE8C-BD5A-D965-BBB31877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16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413755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129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15290885-2BB2-6DEC-1F8F-AA5FF9F3F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06F9AAF-6332-F1FC-4AAC-EF9A6B867C25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68324" y="2082801"/>
            <a:ext cx="11055511" cy="385609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8C9F9-EE8B-8F0D-2DF6-5E4D272BD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BD84-5B1C-458E-6F04-4D0EB689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79A34A7-6D50-3F63-9153-F866AF62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4B4E-13D0-A782-7ECD-A34870A98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053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6887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8AF2AC4-C59A-C554-8AE3-439077DF2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7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91" r:id="rId3"/>
    <p:sldLayoutId id="2147483678" r:id="rId4"/>
    <p:sldLayoutId id="2147483686" r:id="rId5"/>
    <p:sldLayoutId id="2147483692" r:id="rId6"/>
    <p:sldLayoutId id="2147483662" r:id="rId7"/>
    <p:sldLayoutId id="2147483689" r:id="rId8"/>
    <p:sldLayoutId id="2147483676" r:id="rId9"/>
    <p:sldLayoutId id="2147483693" r:id="rId10"/>
    <p:sldLayoutId id="2147483690" r:id="rId11"/>
    <p:sldLayoutId id="2147483660" r:id="rId12"/>
    <p:sldLayoutId id="2147483674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3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702900" indent="-342900" algn="l" defTabSz="914400" rtl="0" eaLnBrk="1" latinLnBrk="0" hangingPunct="1">
        <a:lnSpc>
          <a:spcPct val="13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0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3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i="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3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0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3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  <p15:guide id="30" orient="horz" pos="2160">
          <p15:clr>
            <a:srgbClr val="A4A3A4"/>
          </p15:clr>
        </p15:guide>
        <p15:guide id="31" pos="3840">
          <p15:clr>
            <a:srgbClr val="A4A3A4"/>
          </p15:clr>
        </p15:guide>
        <p15:guide id="32" pos="240">
          <p15:clr>
            <a:srgbClr val="547EBF"/>
          </p15:clr>
        </p15:guide>
        <p15:guide id="33" orient="horz" pos="240">
          <p15:clr>
            <a:srgbClr val="547EBF"/>
          </p15:clr>
        </p15:guide>
        <p15:guide id="34" pos="7440">
          <p15:clr>
            <a:srgbClr val="547EBF"/>
          </p15:clr>
        </p15:guide>
        <p15:guide id="35" orient="horz" pos="4080">
          <p15:clr>
            <a:srgbClr val="547EBF"/>
          </p15:clr>
        </p15:guide>
        <p15:guide id="36" pos="3960">
          <p15:clr>
            <a:srgbClr val="547EBF"/>
          </p15:clr>
        </p15:guide>
        <p15:guide id="37" pos="3720">
          <p15:clr>
            <a:srgbClr val="547EBF"/>
          </p15:clr>
        </p15:guide>
        <p15:guide id="38" pos="2112">
          <p15:clr>
            <a:srgbClr val="547EBF"/>
          </p15:clr>
        </p15:guide>
        <p15:guide id="39" pos="1848">
          <p15:clr>
            <a:srgbClr val="547EBF"/>
          </p15:clr>
        </p15:guide>
        <p15:guide id="40" pos="5568">
          <p15:clr>
            <a:srgbClr val="547EBF"/>
          </p15:clr>
        </p15:guide>
        <p15:guide id="41" pos="5832">
          <p15:clr>
            <a:srgbClr val="547EBF"/>
          </p15:clr>
        </p15:guide>
        <p15:guide id="42" pos="4968">
          <p15:clr>
            <a:srgbClr val="9FCC3B"/>
          </p15:clr>
        </p15:guide>
        <p15:guide id="43" pos="5208">
          <p15:clr>
            <a:srgbClr val="9FCC3B"/>
          </p15:clr>
        </p15:guide>
        <p15:guide id="44" pos="2712">
          <p15:clr>
            <a:srgbClr val="9FCC3B"/>
          </p15:clr>
        </p15:guide>
        <p15:guide id="45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F24C-0E6F-5AE6-87BB-11FA6EC1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40" y="322325"/>
            <a:ext cx="5760720" cy="5738068"/>
          </a:xfrm>
        </p:spPr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Stock Market Analysis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9CF2B9FA-7EDC-AEB2-64DF-5F43A54D2D01}"/>
              </a:ext>
            </a:extLst>
          </p:cNvPr>
          <p:cNvSpPr/>
          <p:nvPr/>
        </p:nvSpPr>
        <p:spPr>
          <a:xfrm>
            <a:off x="6988158" y="1479399"/>
            <a:ext cx="4553602" cy="4114800"/>
          </a:xfrm>
          <a:custGeom>
            <a:avLst/>
            <a:gdLst/>
            <a:ahLst/>
            <a:cxnLst/>
            <a:rect l="l" t="t" r="r" b="b"/>
            <a:pathLst>
              <a:path w="4553602" h="4114800">
                <a:moveTo>
                  <a:pt x="0" y="0"/>
                </a:moveTo>
                <a:lnTo>
                  <a:pt x="4553602" y="0"/>
                </a:lnTo>
                <a:lnTo>
                  <a:pt x="4553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3540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4A74-974D-32F2-C695-D924C14A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63" y="400049"/>
            <a:ext cx="8647721" cy="799577"/>
          </a:xfrm>
        </p:spPr>
        <p:txBody>
          <a:bodyPr/>
          <a:lstStyle/>
          <a:p>
            <a:r>
              <a:rPr lang="en-IN" dirty="0">
                <a:solidFill>
                  <a:srgbClr val="7030A0"/>
                </a:solidFill>
              </a:rPr>
              <a:t>Presented by group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14DDB-C66E-39A8-16A4-BF17F2152AF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417739"/>
            <a:ext cx="11562318" cy="5125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                                                                                              </a:t>
            </a:r>
            <a:r>
              <a:rPr lang="en-IN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-  Syed Mohd </a:t>
            </a:r>
            <a:r>
              <a:rPr lang="en-IN" dirty="0" err="1">
                <a:solidFill>
                  <a:schemeClr val="tx1"/>
                </a:solidFill>
              </a:rPr>
              <a:t>Altamash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                                                                                      - </a:t>
            </a:r>
            <a:r>
              <a:rPr lang="en-IN" dirty="0" err="1">
                <a:solidFill>
                  <a:schemeClr val="tx1"/>
                </a:solidFill>
              </a:rPr>
              <a:t>Boddapu</a:t>
            </a:r>
            <a:r>
              <a:rPr lang="en-IN" dirty="0">
                <a:solidFill>
                  <a:schemeClr val="tx1"/>
                </a:solidFill>
              </a:rPr>
              <a:t> Harsha Vardhan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                                                                                      - Syed Asfan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</a:t>
            </a:r>
            <a:r>
              <a:rPr lang="en-IN" b="1" dirty="0">
                <a:solidFill>
                  <a:srgbClr val="C00000"/>
                </a:solidFill>
              </a:rPr>
              <a:t>Mentors :</a:t>
            </a:r>
            <a:r>
              <a:rPr lang="en-IN" b="1" dirty="0">
                <a:solidFill>
                  <a:schemeClr val="tx1"/>
                </a:solidFill>
              </a:rPr>
              <a:t>                                                                          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 </a:t>
            </a:r>
          </a:p>
          <a:p>
            <a:pPr marL="0" indent="0">
              <a:buNone/>
            </a:pPr>
            <a:endParaRPr lang="en-IN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26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592E3-B35E-27AA-79D8-B47D896A9C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89901" y="1997132"/>
            <a:ext cx="10201013" cy="4232218"/>
          </a:xfrm>
        </p:spPr>
        <p:txBody>
          <a:bodyPr/>
          <a:lstStyle/>
          <a:p>
            <a:pPr marL="45720" indent="0">
              <a:buNone/>
            </a:pPr>
            <a:endParaRPr lang="en-US" sz="1800" dirty="0"/>
          </a:p>
          <a:p>
            <a:pPr marL="45720" indent="0">
              <a:buNone/>
            </a:pPr>
            <a:r>
              <a:rPr lang="en-US" sz="2000" b="1" dirty="0">
                <a:solidFill>
                  <a:srgbClr val="7030A0">
                    <a:alpha val="60000"/>
                  </a:srgbClr>
                </a:solidFill>
              </a:rPr>
              <a:t>OBJECTIVES :</a:t>
            </a:r>
          </a:p>
          <a:p>
            <a:pPr marL="388620" indent="-342900">
              <a:buAutoNum type="arabicPeriod"/>
            </a:pPr>
            <a:r>
              <a:rPr lang="en-US" dirty="0">
                <a:solidFill>
                  <a:srgbClr val="002060">
                    <a:alpha val="60000"/>
                  </a:srgbClr>
                </a:solidFill>
              </a:rPr>
              <a:t>Data set details </a:t>
            </a:r>
          </a:p>
          <a:p>
            <a:pPr marL="388620" indent="-342900">
              <a:buAutoNum type="arabicPeriod"/>
            </a:pPr>
            <a:r>
              <a:rPr lang="en-US" dirty="0">
                <a:solidFill>
                  <a:srgbClr val="002060">
                    <a:alpha val="60000"/>
                  </a:srgbClr>
                </a:solidFill>
              </a:rPr>
              <a:t>EDA</a:t>
            </a:r>
          </a:p>
          <a:p>
            <a:pPr marL="388620" indent="-342900">
              <a:buAutoNum type="arabicPeriod"/>
            </a:pPr>
            <a:r>
              <a:rPr lang="en-US" dirty="0">
                <a:solidFill>
                  <a:srgbClr val="002060">
                    <a:alpha val="60000"/>
                  </a:srgbClr>
                </a:solidFill>
              </a:rPr>
              <a:t>Model Building</a:t>
            </a:r>
          </a:p>
          <a:p>
            <a:pPr marL="388620" indent="-342900">
              <a:buAutoNum type="arabicPeriod"/>
            </a:pPr>
            <a:r>
              <a:rPr lang="en-US" dirty="0">
                <a:solidFill>
                  <a:srgbClr val="002060">
                    <a:alpha val="60000"/>
                  </a:srgbClr>
                </a:solidFill>
              </a:rPr>
              <a:t>Deployment using </a:t>
            </a:r>
            <a:r>
              <a:rPr lang="en-US" dirty="0" err="1">
                <a:solidFill>
                  <a:srgbClr val="002060">
                    <a:alpha val="60000"/>
                  </a:srgbClr>
                </a:solidFill>
              </a:rPr>
              <a:t>streamlit</a:t>
            </a:r>
            <a:endParaRPr lang="en-US" dirty="0">
              <a:solidFill>
                <a:srgbClr val="002060">
                  <a:alpha val="60000"/>
                </a:srgbClr>
              </a:solidFill>
            </a:endParaRPr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978CD4-057B-CCCE-1852-AEEA58C0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400" dirty="0"/>
              <a:t>                                         </a:t>
            </a:r>
            <a:r>
              <a:rPr lang="en-IN" sz="3100" dirty="0">
                <a:solidFill>
                  <a:srgbClr val="C00000"/>
                </a:solidFill>
              </a:rPr>
              <a:t>PROBLEM STATEMENT</a:t>
            </a:r>
            <a:br>
              <a:rPr lang="en-IN" sz="2400" dirty="0">
                <a:solidFill>
                  <a:srgbClr val="C00000"/>
                </a:solidFill>
              </a:rPr>
            </a:br>
            <a:r>
              <a:rPr lang="en-IN" sz="2400" dirty="0">
                <a:solidFill>
                  <a:srgbClr val="C00000"/>
                </a:solidFill>
              </a:rPr>
              <a:t>            </a:t>
            </a:r>
            <a:br>
              <a:rPr lang="en-IN" sz="2400" dirty="0">
                <a:solidFill>
                  <a:srgbClr val="C00000"/>
                </a:solidFill>
              </a:rPr>
            </a:br>
            <a:r>
              <a:rPr lang="en-IN" sz="2400" dirty="0"/>
              <a:t>               Creating Stock Market Analysis measurement dataset.</a:t>
            </a:r>
          </a:p>
        </p:txBody>
      </p:sp>
    </p:spTree>
    <p:extLst>
      <p:ext uri="{BB962C8B-B14F-4D97-AF65-F5344CB8AC3E}">
        <p14:creationId xmlns:p14="http://schemas.microsoft.com/office/powerpoint/2010/main" val="208736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63C9-4C75-5E93-E098-0D0B73AB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63" y="400049"/>
            <a:ext cx="11053566" cy="1185045"/>
          </a:xfrm>
        </p:spPr>
        <p:txBody>
          <a:bodyPr>
            <a:normAutofit/>
          </a:bodyPr>
          <a:lstStyle/>
          <a:p>
            <a:r>
              <a:rPr lang="en-IN" sz="2800" dirty="0"/>
              <a:t>                          </a:t>
            </a:r>
            <a:r>
              <a:rPr lang="en-IN" sz="2800" dirty="0">
                <a:solidFill>
                  <a:srgbClr val="C00000"/>
                </a:solidFill>
              </a:rPr>
              <a:t>OVERALL VIEW OF THE GIVEN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892105-18D9-9639-9AA4-AAC8498EBE0C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700981" y="1858297"/>
            <a:ext cx="9399638" cy="2918317"/>
          </a:xfrm>
        </p:spPr>
      </p:pic>
    </p:spTree>
    <p:extLst>
      <p:ext uri="{BB962C8B-B14F-4D97-AF65-F5344CB8AC3E}">
        <p14:creationId xmlns:p14="http://schemas.microsoft.com/office/powerpoint/2010/main" val="182152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6AB1-AC71-A835-0C78-9BB8E6557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63" y="400049"/>
            <a:ext cx="8647721" cy="849911"/>
          </a:xfrm>
        </p:spPr>
        <p:txBody>
          <a:bodyPr/>
          <a:lstStyle/>
          <a:p>
            <a:r>
              <a:rPr lang="en-IN" dirty="0"/>
              <a:t>                        </a:t>
            </a:r>
            <a:r>
              <a:rPr lang="en-IN" dirty="0">
                <a:solidFill>
                  <a:srgbClr val="7030A0"/>
                </a:solidFill>
              </a:rPr>
              <a:t>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BD5D7-B25E-3E49-64CF-FCE7D28A051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59973" y="1997132"/>
            <a:ext cx="7455911" cy="4232218"/>
          </a:xfrm>
        </p:spPr>
        <p:txBody>
          <a:bodyPr/>
          <a:lstStyle/>
          <a:p>
            <a:pPr marL="0" indent="0" algn="l">
              <a:buNone/>
            </a:pPr>
            <a:endParaRPr lang="en-US" b="0" i="0" dirty="0">
              <a:solidFill>
                <a:srgbClr val="1F1F1F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IN" dirty="0"/>
              <a:t>                                              </a:t>
            </a:r>
          </a:p>
          <a:p>
            <a:pPr marL="0" indent="0" algn="l">
              <a:buNone/>
            </a:pPr>
            <a:r>
              <a:rPr lang="en-IN" dirty="0"/>
              <a:t>  </a:t>
            </a: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we'll fill missing values by three ways: 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Dropping Columns with High Missing Values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Filling Numerical Columns with Mean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Filling Categorical Columns with Mode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DA3C-2A5B-15BA-5262-2EEFE71A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63" y="400049"/>
            <a:ext cx="9372791" cy="1185045"/>
          </a:xfrm>
        </p:spPr>
        <p:txBody>
          <a:bodyPr/>
          <a:lstStyle/>
          <a:p>
            <a:r>
              <a:rPr lang="en-IN" dirty="0"/>
              <a:t>          Dropping columns with high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9F831-A824-CFB5-08D9-08E0ACD103F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946787"/>
            <a:ext cx="10647918" cy="4778477"/>
          </a:xfrm>
        </p:spPr>
        <p:txBody>
          <a:bodyPr/>
          <a:lstStyle/>
          <a:p>
            <a:r>
              <a:rPr lang="en-IN" dirty="0"/>
              <a:t>_If a columns have a large proportion of missing values </a:t>
            </a:r>
            <a:r>
              <a:rPr lang="en-IN" dirty="0" err="1"/>
              <a:t>e.g.,Ease</a:t>
            </a:r>
            <a:r>
              <a:rPr lang="en-IN" dirty="0"/>
              <a:t> of business has 2,519 missing values out of 2,704 it might be practical to drop </a:t>
            </a:r>
            <a:r>
              <a:rPr lang="en-IN" dirty="0" err="1"/>
              <a:t>them,because</a:t>
            </a:r>
            <a:r>
              <a:rPr lang="en-IN" dirty="0"/>
              <a:t> they don’t contribute much to analysis.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642AE8-6734-60DC-C4A3-0F4ABF5CB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82" y="2732898"/>
            <a:ext cx="4994634" cy="399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5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CE49-B146-6C94-E85F-35DAB737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Filling Numerical Columns With Mean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19125D-12DC-8F33-5E57-2DAE52443E54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277283" y="2153265"/>
            <a:ext cx="8918769" cy="430468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35C10E-3ED8-9DD1-63AB-29158CC79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83" y="2457314"/>
            <a:ext cx="6014271" cy="400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45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C1A6-860F-D808-E5F0-C66636B3C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38" y="456010"/>
            <a:ext cx="2923316" cy="1297289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EDA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864D0-0508-72A4-BC28-8EB8F89EF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284" y="2365696"/>
            <a:ext cx="3657600" cy="3867326"/>
          </a:xfrm>
        </p:spPr>
        <p:txBody>
          <a:bodyPr/>
          <a:lstStyle/>
          <a:p>
            <a:pPr marL="2743200" lvl="6" indent="0">
              <a:buNone/>
            </a:pPr>
            <a:endParaRPr lang="en-US" b="0" i="0" dirty="0">
              <a:solidFill>
                <a:srgbClr val="1F1F1F"/>
              </a:solidFill>
              <a:effectLst/>
              <a:latin typeface="Roboto" panose="02000000000000000000" pitchFamily="2" charset="0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</a:rPr>
              <a:t>Histogram for numerical columns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Histograms show the distribution of individual numerical columns, which is useful for understanding data spread, skewness, and common values.</a:t>
            </a:r>
          </a:p>
          <a:p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58CB98C-9C41-9D11-687A-DF3DCE0B16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945" r="24945"/>
          <a:stretch>
            <a:fillRect/>
          </a:stretch>
        </p:blipFill>
        <p:spPr>
          <a:xfrm>
            <a:off x="6278880" y="430213"/>
            <a:ext cx="5371783" cy="5997574"/>
          </a:xfrm>
        </p:spPr>
      </p:pic>
    </p:spTree>
    <p:extLst>
      <p:ext uri="{BB962C8B-B14F-4D97-AF65-F5344CB8AC3E}">
        <p14:creationId xmlns:p14="http://schemas.microsoft.com/office/powerpoint/2010/main" val="332598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A236-8040-6BA3-6F4A-B39955E2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9" y="430213"/>
            <a:ext cx="3573710" cy="5997574"/>
          </a:xfrm>
        </p:spPr>
        <p:txBody>
          <a:bodyPr/>
          <a:lstStyle/>
          <a:p>
            <a:r>
              <a:rPr lang="en-US" sz="2800" b="1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Box Plot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r>
              <a:rPr lang="en-US" sz="2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Box plots help detect outliers in numerical columns by showing the spread and identifying extreme values.</a:t>
            </a:r>
            <a:b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D0A438-32FB-4F7B-2EF2-F3744661BF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731F2F8-51F5-1DDB-020E-93011BD25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89289" y="866416"/>
            <a:ext cx="5997574" cy="512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78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47F6-E2D4-B9EF-2045-BA285980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02" y="310393"/>
            <a:ext cx="3246539" cy="6216242"/>
          </a:xfrm>
        </p:spPr>
        <p:txBody>
          <a:bodyPr/>
          <a:lstStyle/>
          <a:p>
            <a:r>
              <a:rPr lang="en-US" sz="2800" b="0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Correlation Heatmap 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r>
              <a:rPr lang="en-US" sz="2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A heatmap of correlations helps reveal relationships among numerical features, indicating how they might interact with each other.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endParaRPr lang="en-IN" sz="24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69922F3-ECA4-C0CB-B0D3-A502181499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600" r="1260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89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46B3-7759-1F92-A3DB-FD7432C3D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390"/>
            <a:ext cx="3347207" cy="6476301"/>
          </a:xfrm>
        </p:spPr>
        <p:txBody>
          <a:bodyPr/>
          <a:lstStyle/>
          <a:p>
            <a:r>
              <a:rPr lang="en-US" sz="2800" b="0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  <a:t>Pair plot</a:t>
            </a:r>
            <a:br>
              <a:rPr lang="en-US" sz="2800" b="0" i="0" dirty="0">
                <a:solidFill>
                  <a:srgbClr val="7030A0"/>
                </a:solidFill>
                <a:effectLst/>
                <a:latin typeface="Roboto" panose="02000000000000000000" pitchFamily="2" charset="0"/>
              </a:rPr>
            </a:br>
            <a:r>
              <a:rPr lang="en-US" sz="2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Pair plots allow you to visualize the relationships between several numerical features at once, showing distributions on the diagonal and scatter plots on the off-diagonals.</a:t>
            </a:r>
            <a:br>
              <a:rPr lang="en-US" sz="2400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</a:br>
            <a:endParaRPr lang="en-IN" sz="24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94F652B-84C1-5AFD-40BE-EAE7276D79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5370" r="1537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24719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224A-C842-5FF0-6C60-6A9A5FEBE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63" y="93406"/>
            <a:ext cx="10552121" cy="14916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                                  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                                   SCATTER PLOTS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sz="3100" dirty="0"/>
              <a:t>         _help visualize the relationship between two numerical columns.</a:t>
            </a:r>
            <a:endParaRPr lang="en-IN" sz="31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F83704-251E-6A4A-3D3E-0CDB1F4E5F0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684189" y="1997075"/>
            <a:ext cx="6420146" cy="4232275"/>
          </a:xfrm>
        </p:spPr>
      </p:pic>
    </p:spTree>
    <p:extLst>
      <p:ext uri="{BB962C8B-B14F-4D97-AF65-F5344CB8AC3E}">
        <p14:creationId xmlns:p14="http://schemas.microsoft.com/office/powerpoint/2010/main" val="107022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0350-DE0A-F30A-28F2-E5BC95AF1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63" y="400049"/>
            <a:ext cx="9844198" cy="80931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                      Conclusion on </a:t>
            </a:r>
            <a:r>
              <a:rPr lang="en-US" b="1" dirty="0">
                <a:solidFill>
                  <a:srgbClr val="C00000"/>
                </a:solidFill>
              </a:rPr>
              <a:t>EDA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80E374BC-D7B7-6DAC-6B08-E5D44B142196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14301" y="1401700"/>
            <a:ext cx="976745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 revealed key trends and seasonality patterns in stock price data, such as daily, monthly, and yearly movements.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highlighted significant relationships between technical indicators (e.g., moving averages, RSI) and stock price trends.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and anomalies in historical stock data were identified and handled effectively.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analysis showed the influence of specific features like volume and market sentiment on stock price movements.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 detection helped refine the dataset for accurate predictive modeling.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summaries provided insights into stock price volatility and distribution over time.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based on EDA improved model input quality, enhancing prediction performance.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EDA was instrumental in understanding the dataset and forming a solid base for building reliable predictive models. </a:t>
            </a:r>
          </a:p>
        </p:txBody>
      </p:sp>
    </p:spTree>
    <p:extLst>
      <p:ext uri="{BB962C8B-B14F-4D97-AF65-F5344CB8AC3E}">
        <p14:creationId xmlns:p14="http://schemas.microsoft.com/office/powerpoint/2010/main" val="203307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42023-6461-C8CC-BBB7-221A0810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STANDARDIZING THE DATA BY USING       NORMALIZATION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25E5A-5FB8-E501-C757-60A3742DF78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997132"/>
            <a:ext cx="11877837" cy="4789748"/>
          </a:xfrm>
        </p:spPr>
        <p:txBody>
          <a:bodyPr/>
          <a:lstStyle/>
          <a:p>
            <a:r>
              <a:rPr lang="en-US" sz="2400" dirty="0">
                <a:solidFill>
                  <a:srgbClr val="C00000">
                    <a:alpha val="60000"/>
                  </a:srgbClr>
                </a:solidFill>
              </a:rPr>
              <a:t>Normalizing the features using </a:t>
            </a:r>
            <a:r>
              <a:rPr lang="en-US" sz="2400" dirty="0" err="1">
                <a:solidFill>
                  <a:srgbClr val="C00000">
                    <a:alpha val="60000"/>
                  </a:srgbClr>
                </a:solidFill>
              </a:rPr>
              <a:t>standardscalar</a:t>
            </a:r>
            <a:r>
              <a:rPr lang="en-US" sz="2400" dirty="0">
                <a:solidFill>
                  <a:srgbClr val="C00000">
                    <a:alpha val="60000"/>
                  </a:srgbClr>
                </a:solidFill>
              </a:rPr>
              <a:t> to prevent large ranged features dominancy and to improve the model performance</a:t>
            </a:r>
          </a:p>
          <a:p>
            <a:endParaRPr lang="en-US" sz="2400" dirty="0">
              <a:solidFill>
                <a:srgbClr val="C00000">
                  <a:alpha val="60000"/>
                </a:srgbClr>
              </a:solidFill>
            </a:endParaRPr>
          </a:p>
          <a:p>
            <a:r>
              <a:rPr lang="en-US" sz="2400" dirty="0">
                <a:solidFill>
                  <a:srgbClr val="C00000">
                    <a:alpha val="60000"/>
                  </a:srgbClr>
                </a:solidFill>
              </a:rPr>
              <a:t>Standardizer = </a:t>
            </a:r>
            <a:r>
              <a:rPr lang="en-US" sz="2400" dirty="0" err="1">
                <a:solidFill>
                  <a:srgbClr val="C00000">
                    <a:alpha val="60000"/>
                  </a:srgbClr>
                </a:solidFill>
              </a:rPr>
              <a:t>standardscalar</a:t>
            </a:r>
            <a:r>
              <a:rPr lang="en-US" sz="2400" dirty="0">
                <a:solidFill>
                  <a:srgbClr val="C00000">
                    <a:alpha val="60000"/>
                  </a:srgbClr>
                </a:solidFill>
              </a:rPr>
              <a:t>()</a:t>
            </a:r>
          </a:p>
          <a:p>
            <a:r>
              <a:rPr lang="en-US" sz="2400" dirty="0" err="1">
                <a:solidFill>
                  <a:srgbClr val="C00000">
                    <a:alpha val="60000"/>
                  </a:srgbClr>
                </a:solidFill>
              </a:rPr>
              <a:t>Features_standardized</a:t>
            </a:r>
            <a:r>
              <a:rPr lang="en-US" sz="2400" dirty="0">
                <a:solidFill>
                  <a:srgbClr val="C00000">
                    <a:alpha val="60000"/>
                  </a:srgbClr>
                </a:solidFill>
              </a:rPr>
              <a:t> = </a:t>
            </a:r>
            <a:r>
              <a:rPr lang="en-US" sz="2400" dirty="0" err="1">
                <a:solidFill>
                  <a:srgbClr val="C00000">
                    <a:alpha val="60000"/>
                  </a:srgbClr>
                </a:solidFill>
              </a:rPr>
              <a:t>standardizer.fit_transform</a:t>
            </a:r>
            <a:r>
              <a:rPr lang="en-US" sz="2400" dirty="0">
                <a:solidFill>
                  <a:srgbClr val="C00000">
                    <a:alpha val="60000"/>
                  </a:srgbClr>
                </a:solidFill>
              </a:rPr>
              <a:t>(features)</a:t>
            </a:r>
            <a:endParaRPr lang="en-IN" sz="2400" dirty="0">
              <a:solidFill>
                <a:srgbClr val="C00000">
                  <a:alpha val="60000"/>
                </a:srgbClr>
              </a:solidFill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F5F6189E-021F-B708-07A7-E3E1D35C9C7C}"/>
              </a:ext>
            </a:extLst>
          </p:cNvPr>
          <p:cNvSpPr/>
          <p:nvPr/>
        </p:nvSpPr>
        <p:spPr>
          <a:xfrm>
            <a:off x="10048240" y="2915920"/>
            <a:ext cx="2143760" cy="3870960"/>
          </a:xfrm>
          <a:custGeom>
            <a:avLst/>
            <a:gdLst/>
            <a:ahLst/>
            <a:cxnLst/>
            <a:rect l="l" t="t" r="r" b="b"/>
            <a:pathLst>
              <a:path w="3409743" h="4286685">
                <a:moveTo>
                  <a:pt x="0" y="0"/>
                </a:moveTo>
                <a:lnTo>
                  <a:pt x="3409743" y="0"/>
                </a:lnTo>
                <a:lnTo>
                  <a:pt x="3409743" y="4286686"/>
                </a:lnTo>
                <a:lnTo>
                  <a:pt x="0" y="4286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950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DC8C9-92E3-2AC0-EED3-C104826B3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63" y="400049"/>
            <a:ext cx="10158831" cy="118504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                              MODEL BUILDING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80AE-707E-124A-D1FB-EED2FE0ACE8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4" y="1997132"/>
            <a:ext cx="7173064" cy="4232218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tx2">
                    <a:alpha val="60000"/>
                  </a:schemeClr>
                </a:solidFill>
              </a:rPr>
              <a:t>We are </a:t>
            </a:r>
            <a:r>
              <a:rPr lang="en-US" dirty="0"/>
              <a:t>We are using three forecasting models in this project: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Prophet Model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Effective for handling seasonal patterns and holidays.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ARIMA (</a:t>
            </a:r>
            <a:r>
              <a:rPr lang="en-US" b="1" dirty="0" err="1"/>
              <a:t>AutoRegressive</a:t>
            </a:r>
            <a:r>
              <a:rPr lang="en-US" b="1" dirty="0"/>
              <a:t> Integrated Moving Average)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Suitable for time-series data with trends and patterns.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LSTM (Long Short-Term Memory)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 deep learning model designed for sequence prediction, capturing long-term dependencies in data.</a:t>
            </a:r>
          </a:p>
          <a:p>
            <a:r>
              <a:rPr lang="en-US" sz="2400" dirty="0">
                <a:solidFill>
                  <a:schemeClr val="tx2">
                    <a:alpha val="60000"/>
                  </a:schemeClr>
                </a:solidFill>
              </a:rPr>
              <a:t>    </a:t>
            </a:r>
            <a:endParaRPr lang="en-IN" sz="2400" dirty="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0273ABF-F3BD-3E21-6E51-1D4CC31B7A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50481" y="3180080"/>
            <a:ext cx="4378960" cy="358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79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C692-8FEF-F81B-2809-BF18602E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Final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01DD-D149-338B-2964-D3D2FD188E1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8163" y="1997131"/>
            <a:ext cx="9220073" cy="4642659"/>
          </a:xfrm>
        </p:spPr>
        <p:txBody>
          <a:bodyPr/>
          <a:lstStyle/>
          <a:p>
            <a:r>
              <a:rPr lang="en-US" dirty="0"/>
              <a:t>After evaluating multiple forecasting models, the </a:t>
            </a:r>
            <a:r>
              <a:rPr lang="en-US" b="1" dirty="0"/>
              <a:t>LSTM (Long Short-Term Memory)</a:t>
            </a:r>
            <a:r>
              <a:rPr lang="en-US" dirty="0"/>
              <a:t> model was selected as the final model due to: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High Prediction Accuracy</a:t>
            </a:r>
            <a:r>
              <a:rPr lang="en-US" dirty="0"/>
              <a:t>: It provided the lowest RMSE (Root Mean Square Error) of 15.07, outperforming other models like Prophet and ARIMA.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Ability to Handle Non-Linear Data</a:t>
            </a:r>
            <a:r>
              <a:rPr lang="en-US" dirty="0"/>
              <a:t>: LSTM effectively captured the complex patterns and long-term dependencies in stock market data.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Real-Time Prediction Capability</a:t>
            </a:r>
            <a:r>
              <a:rPr lang="en-US" dirty="0"/>
              <a:t>: Suitable for dynamic stock market environments, offering accurate trend forecasting.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6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F932-A3F6-AE44-B337-645D1208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290321"/>
            <a:ext cx="10984740" cy="1062991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</a:rPr>
              <a:t>                   </a:t>
            </a:r>
            <a:r>
              <a:rPr lang="en-IN" sz="4800" b="1" dirty="0">
                <a:solidFill>
                  <a:srgbClr val="C00000"/>
                </a:solidFill>
              </a:rPr>
              <a:t>Challenges Faced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639EC52-892E-3565-1B1F-62873153A8D8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954375" y="1555491"/>
            <a:ext cx="928066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Issues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Handling missing, noisy, or inconsistent data in historical stock market records.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Volatility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Predicting prices amidst unpredictable and sudden market changes.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Identifying and selecting the most relevant indicators for better predictions.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Selection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Balancing between accuracy and computational efficiency while choosing models.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Ensuring the models generalize well and do not only perform well on training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Explaining complex models like LSTM to non-technical stakeholders.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Creating an intuitive dashboard for real-time forecasting and visualization.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Limitations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Dealing with high resource requirements for training advanced models like LSTM. </a:t>
            </a:r>
          </a:p>
        </p:txBody>
      </p:sp>
    </p:spTree>
    <p:extLst>
      <p:ext uri="{BB962C8B-B14F-4D97-AF65-F5344CB8AC3E}">
        <p14:creationId xmlns:p14="http://schemas.microsoft.com/office/powerpoint/2010/main" val="3124702930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ed design_Win32_SL_V17" id="{FA11C0B9-681E-43E4-B6CC-BC787D51C65C}" vid="{D48F34D0-55FB-44C4-9582-53739CEA03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AE25C0-66E9-4E74-9814-75E5D2A6CABE}">
  <ds:schemaRefs>
    <ds:schemaRef ds:uri="http://purl.org/dc/terms/"/>
    <ds:schemaRef ds:uri="http://schemas.microsoft.com/office/2006/documentManagement/types"/>
    <ds:schemaRef ds:uri="http://schemas.microsoft.com/sharepoint/v3"/>
    <ds:schemaRef ds:uri="16c05727-aa75-4e4a-9b5f-8a80a1165891"/>
    <ds:schemaRef ds:uri="230e9df3-be65-4c73-a93b-d1236ebd677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71af3243-3dd4-4a8d-8c0d-dd76da1f02a5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Frosted design</Template>
  <TotalTime>489</TotalTime>
  <Words>706</Words>
  <Application>Microsoft Office PowerPoint</Application>
  <PresentationFormat>Widescreen</PresentationFormat>
  <Paragraphs>72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Avenir Next LT Pro</vt:lpstr>
      <vt:lpstr>Calibri</vt:lpstr>
      <vt:lpstr>Goudy Old Style</vt:lpstr>
      <vt:lpstr>Roboto</vt:lpstr>
      <vt:lpstr>Wingdings</vt:lpstr>
      <vt:lpstr>FrostyVTI</vt:lpstr>
      <vt:lpstr>Stock Market Analysis</vt:lpstr>
      <vt:lpstr>Presented by group 6</vt:lpstr>
      <vt:lpstr>                                         PROBLEM STATEMENT                             Creating Stock Market Analysis measurement dataset.</vt:lpstr>
      <vt:lpstr>                          OVERALL VIEW OF THE GIVEN DATA</vt:lpstr>
      <vt:lpstr>                         Missing values</vt:lpstr>
      <vt:lpstr>          Dropping columns with high missing values</vt:lpstr>
      <vt:lpstr>Filling Numerical Columns With Mean</vt:lpstr>
      <vt:lpstr>EDA</vt:lpstr>
      <vt:lpstr>Box Plot Box plots help detect outliers in numerical columns by showing the spread and identifying extreme values. </vt:lpstr>
      <vt:lpstr>Correlation Heatmap  A heatmap of correlations helps reveal relationships among numerical features, indicating how they might interact with each other. </vt:lpstr>
      <vt:lpstr>Pair plot Pair plots allow you to visualize the relationships between several numerical features at once, showing distributions on the diagonal and scatter plots on the off-diagonals. </vt:lpstr>
      <vt:lpstr>                                                                       SCATTER PLOTS          _help visualize the relationship between two numerical columns.</vt:lpstr>
      <vt:lpstr>                      Conclusion on EDA</vt:lpstr>
      <vt:lpstr> STANDARDIZING THE DATA BY USING       NORMALIZATION</vt:lpstr>
      <vt:lpstr>                              MODEL BUILDING</vt:lpstr>
      <vt:lpstr>Final Model Selection</vt:lpstr>
      <vt:lpstr>                   Challenges Faced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GLOBAL DEVELOPMENT</dc:title>
  <dc:creator>Bhavya Katta</dc:creator>
  <cp:lastModifiedBy>SYED ALTAMASH</cp:lastModifiedBy>
  <cp:revision>18</cp:revision>
  <dcterms:created xsi:type="dcterms:W3CDTF">2024-11-11T14:37:30Z</dcterms:created>
  <dcterms:modified xsi:type="dcterms:W3CDTF">2025-01-16T08:07:33Z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